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HACKATHON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Deep Analysis Coding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Segoe UI"/>
              </a:rPr>
              <a:t>From pass/fail scoring to learning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F1F5F9"/>
                </a:solidFill>
                <a:latin typeface="Segoe UI"/>
              </a:rPr>
              <a:t>We reveal how developers think, where they break, and what they should practice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31920"/>
            <a:ext cx="1920240" cy="475488"/>
          </a:xfrm>
          <a:prstGeom prst="roundRect">
            <a:avLst/>
          </a:prstGeom>
          <a:solidFill>
            <a:srgbClr val="22D3E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1F5F9"/>
                </a:solidFill>
                <a:latin typeface="Segoe UI"/>
              </a:rPr>
              <a:t>48-72 Hour MVP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3931920"/>
            <a:ext cx="1920240" cy="475488"/>
          </a:xfrm>
          <a:prstGeom prst="roundRect">
            <a:avLst/>
          </a:prstGeom>
          <a:solidFill>
            <a:srgbClr val="FB923C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1F5F9"/>
                </a:solidFill>
                <a:latin typeface="Segoe UI"/>
              </a:rPr>
              <a:t>$0 Deployment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931920"/>
            <a:ext cx="2468880" cy="475488"/>
          </a:xfrm>
          <a:prstGeom prst="roundRect">
            <a:avLst/>
          </a:prstGeom>
          <a:solidFill>
            <a:srgbClr val="A3E635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1F5F9"/>
                </a:solidFill>
                <a:latin typeface="Segoe UI"/>
              </a:rPr>
              <a:t>Rule-Based AI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80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Deep Analysis Platform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What Existing Platforms Miss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303520" cy="201168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B7185"/>
                </a:solidFill>
                <a:latin typeface="Segoe UI"/>
              </a:rPr>
              <a:t>TODAY'S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1F5F9"/>
                </a:solidFill>
                <a:latin typeface="Bahnschrift SemiBold"/>
              </a:rPr>
              <a:t>"Wrong Answer on Test Case 5."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No reasoning. No context. No learning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257800" cy="201168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A3E635"/>
                </a:solidFill>
                <a:latin typeface="Segoe UI"/>
              </a:rPr>
              <a:t>OUR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59152"/>
            <a:ext cx="4663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Bahnschrift SemiBold"/>
              </a:rPr>
              <a:t>"Strong loop logic. Missed edge case first, corrected on attempt 3."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3584448" cy="173736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6696" y="4407408"/>
            <a:ext cx="201168" cy="20116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434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No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4754880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Pass/fail ignores why code failed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9431" y="4160520"/>
            <a:ext cx="3584448" cy="173736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7" y="44074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1" y="43434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No Attempt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7" y="4754880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8 submissions collapse into one label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21624" y="4160520"/>
            <a:ext cx="3584448" cy="173736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41080" y="4407408"/>
            <a:ext cx="201168" cy="201168"/>
          </a:xfrm>
          <a:prstGeom prst="ellipse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43434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Segoe UI"/>
              </a:rPr>
              <a:t>No Misconception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754880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Recurring mistakes stay invisible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The Analyze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94A3B8"/>
                </a:solidFill>
                <a:latin typeface="Segoe UI"/>
              </a:rPr>
              <a:t>One click transforms raw submissions into coaching-grade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1920240" cy="182880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7432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Bahnschrift SemiBold"/>
              </a:rPr>
              <a:t>Attempts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54680"/>
            <a:ext cx="1600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All submissions</a:t>
            </a:r>
            <a:br/>
            <a:r>
              <a:t>+ timing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2971800"/>
            <a:ext cx="34747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90672" y="2514600"/>
            <a:ext cx="1920240" cy="182880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27432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Bahnschrift SemiBold"/>
              </a:rPr>
              <a:t>Code 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3154680"/>
            <a:ext cx="1600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What changed</a:t>
            </a:r>
            <a:br/>
            <a:r>
              <a:t>between tries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1184" y="2971800"/>
            <a:ext cx="34747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58384" y="2514600"/>
            <a:ext cx="1920240" cy="182880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2976" y="27432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Bahnschrift SemiBold"/>
              </a:rPr>
              <a:t>Error Intel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3154680"/>
            <a:ext cx="1600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Syntax/runtime</a:t>
            </a:r>
            <a:br/>
            <a:r>
              <a:t>logic labels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896" y="2971800"/>
            <a:ext cx="34747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26096" y="2514600"/>
            <a:ext cx="1920240" cy="182880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27432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Bahnschrift SemiBold"/>
              </a:rPr>
              <a:t>Concept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3154680"/>
            <a:ext cx="1600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Loops, edge cases,</a:t>
            </a:r>
            <a:br/>
            <a:r>
              <a:t>complexity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36608" y="2971800"/>
            <a:ext cx="34747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93808" y="2514600"/>
            <a:ext cx="1920240" cy="182880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74320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Bahnschrift SemiBold"/>
              </a:rPr>
              <a:t>Guidance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154680"/>
            <a:ext cx="1600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Personalized</a:t>
            </a:r>
            <a:br/>
            <a:r>
              <a:t>next 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892040"/>
            <a:ext cx="10789920" cy="132588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193792"/>
            <a:ext cx="102412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Bahnschrift SemiBold"/>
              </a:rPr>
              <a:t>"You understood string traversal, but your first approach missed empty input handling.</a:t>
            </a:r>
            <a:br/>
            <a:r>
              <a:t>Practice edge-case checks before writing loops."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3-Minute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Segoe UI"/>
              </a:rPr>
              <a:t>A tight, judge-friendly story from pain to proof.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468880"/>
            <a:ext cx="603504" cy="6035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6035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6776" y="2240280"/>
            <a:ext cx="1417320" cy="111556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450592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Login +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80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30s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999232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0" y="2468880"/>
            <a:ext cx="603504" cy="60350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606040"/>
            <a:ext cx="6035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7056" y="2240280"/>
            <a:ext cx="1417320" cy="111556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40" y="2450592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Write + Submit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880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45s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999232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49240" y="2468880"/>
            <a:ext cx="603504" cy="60350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606040"/>
            <a:ext cx="6035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7336" y="2240280"/>
            <a:ext cx="1417320" cy="111556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450592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Show Attempt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80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35s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999232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89520" y="2468880"/>
            <a:ext cx="603504" cy="6035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606040"/>
            <a:ext cx="6035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7616" y="2240280"/>
            <a:ext cx="1417320" cy="111556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450592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Click 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880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40s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2999232"/>
            <a:ext cx="2743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29800" y="2468880"/>
            <a:ext cx="603504" cy="60350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2606040"/>
            <a:ext cx="6035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97896" y="2240280"/>
            <a:ext cx="1417320" cy="111556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0" y="2450592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Reveal Coaching Insights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880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30s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434840"/>
            <a:ext cx="10789920" cy="155448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70916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Bahnschrift SemiBold"/>
              </a:rPr>
              <a:t>Judge Storyline: Existing platforms say "Accepted in 3 attempts."</a:t>
            </a:r>
            <a:br/>
            <a:r>
              <a:t>We show exactly what changed, why it failed, and what to practice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Zero-Cost, Production-Ready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4526280" cy="438912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4069080" cy="65836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57400"/>
            <a:ext cx="1463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React + Monaco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057400"/>
            <a:ext cx="1143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3E635"/>
                </a:solidFill>
                <a:latin typeface="Segoe UI"/>
              </a:rPr>
              <a:t>Vercel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752344"/>
            <a:ext cx="4069080" cy="65836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843784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843784"/>
            <a:ext cx="1463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Node +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843784"/>
            <a:ext cx="1143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3E635"/>
                </a:solidFill>
                <a:latin typeface="Segoe UI"/>
              </a:rPr>
              <a:t>Railway/Render Free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538728"/>
            <a:ext cx="4069080" cy="65836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630168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Analysis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630168"/>
            <a:ext cx="1463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Python + 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30168"/>
            <a:ext cx="1143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3E635"/>
                </a:solidFill>
                <a:latin typeface="Segoe UI"/>
              </a:rPr>
              <a:t>Shared Instance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325112"/>
            <a:ext cx="4069080" cy="65836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416552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416552"/>
            <a:ext cx="1463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416552"/>
            <a:ext cx="1143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3E635"/>
                </a:solidFill>
                <a:latin typeface="Segoe UI"/>
              </a:rPr>
              <a:t>Neon 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111496"/>
            <a:ext cx="4069080" cy="65836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202936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Code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202936"/>
            <a:ext cx="1463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Judge0 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202936"/>
            <a:ext cx="1143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3E635"/>
                </a:solidFill>
                <a:latin typeface="Segoe UI"/>
              </a:rPr>
              <a:t>Oracle Cloud Free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577840"/>
            <a:ext cx="4526280" cy="64008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42432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3E635"/>
                </a:solidFill>
                <a:latin typeface="Bahnschrift SemiBold"/>
              </a:rPr>
              <a:t>$0 monthly cost at MVP stage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1600200"/>
            <a:ext cx="5897880" cy="461772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vgviewer-png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755648"/>
            <a:ext cx="56692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What We Build In The Hackathon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486400" cy="35661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3E635"/>
                </a:solidFill>
                <a:latin typeface="Segoe UI"/>
              </a:rPr>
              <a:t>MUST SHIP (MVP)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? JWT auth + user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1635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? 5-10 curated Python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55264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? Monaco editor with Run/Submit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94176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? Judge0 execution + attempt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33087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? Analyze button with rule-based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"/>
              </a:rPr>
              <a:t>? Dashboard: progress + weak concepts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83080"/>
            <a:ext cx="4983480" cy="356616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Segoe UI"/>
              </a:rPr>
              <a:t>EXPLICITLY DEFERRED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77440"/>
            <a:ext cx="4343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? Multi-language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889504"/>
            <a:ext cx="4343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? ML-powered personalization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401568"/>
            <a:ext cx="4343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? Social/community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913632"/>
            <a:ext cx="4343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? Advanced recommendation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25696"/>
            <a:ext cx="4343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? Enterprise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48-HOUR SPRINT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3520440" cy="6858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Day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907024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Backend + DB + Judge0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7" y="5806440"/>
            <a:ext cx="3520440" cy="6858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7" y="590702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Day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7" y="5907024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Frontend + Analyze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29015" y="5806440"/>
            <a:ext cx="3520440" cy="68580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590702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Segoe UI"/>
              </a:rPr>
              <a:t>Day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5" y="5907024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Segoe UI"/>
              </a:rPr>
              <a:t>Demo polish + rehearsal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Why This Wins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154680" cy="56692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Dimension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737360"/>
            <a:ext cx="3474720" cy="56692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90195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Existing Platforms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737360"/>
            <a:ext cx="3886200" cy="56692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901952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Our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315468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2450592"/>
            <a:ext cx="347472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63347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Accepted / Wrong Answer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450592"/>
            <a:ext cx="388620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633472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Concept-level insight + fixes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19272"/>
            <a:ext cx="315468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Data Captured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3319272"/>
            <a:ext cx="347472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350215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Final submission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319272"/>
            <a:ext cx="388620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502152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Every attempt + timing + diffs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87952"/>
            <a:ext cx="315468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7083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Learning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4187952"/>
            <a:ext cx="347472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43708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Generic problem lists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187952"/>
            <a:ext cx="388620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4370832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Weakness-driven recommendations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056631"/>
            <a:ext cx="315468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Segoe UI"/>
              </a:rPr>
              <a:t>Misconceptions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77639" y="5056631"/>
            <a:ext cx="347472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523951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Not detected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5056631"/>
            <a:ext cx="3886200" cy="74980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5239512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Recurring pattern detection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532120"/>
            <a:ext cx="10652760" cy="8229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42432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A3E635"/>
                </a:solidFill>
                <a:latin typeface="Bahnschrift SemiBold"/>
              </a:rPr>
              <a:t>Data moat: rich attempt-level behavior is hard for incumbents to retrofit.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From Hackathon MVP to Product-Market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520440" cy="338328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Bahnschrift SemiBold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066543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0-6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51460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? Rule-based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17296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? 500 active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3831335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? 10k attempts tracked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3" y="1828800"/>
            <a:ext cx="3520440" cy="338328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3" y="20299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Bahnschrift SemiBold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3" y="2066543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  <a:latin typeface="Segoe UI"/>
              </a:rPr>
              <a:t>6-12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51460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? ML mastery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17296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? 5k WAU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3831335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? 5-10% premium conversion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7" y="1828800"/>
            <a:ext cx="3520440" cy="338328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7" y="20299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Bahnschrift SemiBold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3847" y="2066543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A3E635"/>
                </a:solidFill>
                <a:latin typeface="Segoe UI"/>
              </a:rPr>
              <a:t>12-24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3" y="251460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Segoe UI"/>
              </a:rPr>
              <a:t>? Adaptive problem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3172968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? B2B bootcamp licenses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3831335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? $10k+ MRR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532120"/>
            <a:ext cx="10652760" cy="8229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742432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  <a:latin typeface="Bahnschrift SemiBold"/>
              </a:rPr>
              <a:t>Monetization: Freemium analysis + interview prep tracks + educational licenses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663440"/>
            <a:ext cx="3200400" cy="3200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1F5F9"/>
                </a:solidFill>
                <a:latin typeface="Bahnschrift SemiBold"/>
              </a:rPr>
              <a:t>We Don't Just Score Code.</a:t>
            </a:r>
            <a:br/>
            <a:r>
              <a:t>We Coach Thinking.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8961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F1F5F9"/>
                </a:solidFill>
                <a:latin typeface="Segoe UI"/>
              </a:rPr>
              <a:t>Deep Analysis transforms every failed attempt into a measurable learning 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2011680" cy="475488"/>
          </a:xfrm>
          <a:prstGeom prst="roundRect">
            <a:avLst/>
          </a:prstGeom>
          <a:solidFill>
            <a:srgbClr val="22D3E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1F5F9"/>
                </a:solidFill>
                <a:latin typeface="Segoe UI"/>
              </a:rPr>
              <a:t>Pilot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4069080"/>
            <a:ext cx="2194560" cy="475488"/>
          </a:xfrm>
          <a:prstGeom prst="roundRect">
            <a:avLst/>
          </a:prstGeom>
          <a:solidFill>
            <a:srgbClr val="FB923C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1F5F9"/>
                </a:solidFill>
                <a:latin typeface="Segoe UI"/>
              </a:rPr>
              <a:t>Mentor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4069080"/>
            <a:ext cx="2286000" cy="475488"/>
          </a:xfrm>
          <a:prstGeom prst="roundRect">
            <a:avLst/>
          </a:prstGeom>
          <a:solidFill>
            <a:srgbClr val="A3E635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1F5F9"/>
                </a:solidFill>
                <a:latin typeface="Segoe UI"/>
              </a:rPr>
              <a:t>Hackathon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92040"/>
            <a:ext cx="10652760" cy="128016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669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1F5F9"/>
                </a:solidFill>
                <a:latin typeface="Bahnschrift SemiBold"/>
              </a:rPr>
              <a:t>Thank you |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